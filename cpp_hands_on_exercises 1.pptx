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50f3419-a28c-6d75-fc15-f97a80bda879}">
          <p14:sldIdLst>
            <p14:sldId id="256"/>
          </p14:sldIdLst>
        </p14:section>
        <p14:section name="Exercise 1" id="{255bad23-70f8-6a97-a7d3-51e5e8c0841a}">
          <p14:sldIdLst>
            <p14:sldId id="257"/>
            <p14:sldId id="258"/>
          </p14:sldIdLst>
        </p14:section>
        <p14:section name="Exercise 2" id="{7efaaa28-0ade-47f7-c5f7-97f70273c7fb}">
          <p14:sldIdLst>
            <p14:sldId id="259"/>
            <p14:sldId id="260"/>
          </p14:sldIdLst>
        </p14:section>
        <p14:section name="Exercise 3" id="{d233ac02-dd64-eb0a-263d-9d9cbd460b9c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41732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C++ Hands-on Exercises</a:t>
            </a:r>
            <a:endParaRPr lang="en-US" sz="3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Three practical exercises for embedded C++ trainees</a:t>
            </a:r>
            <a:endParaRPr lang="en-US" sz="1600" dirty="0"/>
          </a:p>
        </p:txBody>
      </p:sp>
      <p:sp>
        <p:nvSpPr>
          <p:cNvPr id="4" name="Exercise pill 1"/>
          <p:cNvSpPr/>
          <p:nvPr/>
        </p:nvSpPr>
        <p:spPr>
          <a:xfrm>
            <a:off x="731520" y="3200400"/>
            <a:ext cx="246888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  <p:txBody>
          <a:bodyPr wrap="square" lIns="0" tIns="152400" rIns="1524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 Wrap a C driver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about 1-2 h</a:t>
            </a:r>
            <a:endParaRPr lang="en-US" sz="1400" dirty="0"/>
          </a:p>
        </p:txBody>
      </p:sp>
      <p:sp>
        <p:nvSpPr>
          <p:cNvPr id="5" name="Exercise pill 2"/>
          <p:cNvSpPr/>
          <p:nvPr/>
        </p:nvSpPr>
        <p:spPr>
          <a:xfrm>
            <a:off x="3337560" y="3200400"/>
            <a:ext cx="246888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  <p:txBody>
          <a:bodyPr wrap="square" lIns="0" tIns="152400" rIns="1524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 RAII + fixed buffer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about 2-3 h</a:t>
            </a:r>
            <a:endParaRPr lang="en-US" sz="1400" dirty="0"/>
          </a:p>
        </p:txBody>
      </p:sp>
      <p:sp>
        <p:nvSpPr>
          <p:cNvPr id="6" name="Exercise pill 3"/>
          <p:cNvSpPr/>
          <p:nvPr/>
        </p:nvSpPr>
        <p:spPr>
          <a:xfrm>
            <a:off x="5943600" y="3200400"/>
            <a:ext cx="246888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  <p:txBody>
          <a:bodyPr wrap="square" lIns="0" tIns="152400" rIns="1524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  Producer / consumer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about 2-3 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Ex 1 · Wrap a C decoder, no heap</a:t>
            </a:r>
            <a:endParaRPr lang="en-US" sz="2400" dirty="0"/>
          </a:p>
        </p:txBody>
      </p:sp>
      <p:sp>
        <p:nvSpPr>
          <p:cNvPr id="3" name="Goal line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chemeClr val="tx1"/>
                </a:solidFill>
              </a:rPr>
              <a:t>Goal: give a C API a safe C++ interface without any dynamic allocation.</a:t>
            </a:r>
            <a:endParaRPr lang="en-US" sz="1250" dirty="0"/>
          </a:p>
        </p:txBody>
      </p:sp>
      <p:sp>
        <p:nvSpPr>
          <p:cNvPr id="4" name="Build card"/>
          <p:cNvSpPr/>
          <p:nvPr/>
        </p:nvSpPr>
        <p:spPr>
          <a:xfrm>
            <a:off x="457200" y="1280160"/>
            <a:ext cx="411480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uild accent"/>
          <p:cNvSpPr/>
          <p:nvPr/>
        </p:nvSpPr>
        <p:spPr>
          <a:xfrm>
            <a:off x="457200" y="1280160"/>
            <a:ext cx="54864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uild"/>
          <p:cNvSpPr txBox="1"/>
          <p:nvPr/>
        </p:nvSpPr>
        <p:spPr>
          <a:xfrm>
            <a:off x="548640" y="1280160"/>
            <a:ext cx="3977640" cy="3383280"/>
          </a:xfrm>
          <a:prstGeom prst="rect">
            <a:avLst/>
          </a:prstGeom>
          <a:noFill/>
          <a:ln/>
        </p:spPr>
        <p:txBody>
          <a:bodyPr wrap="square" lIns="101600" tIns="101600" rIns="101600" bIns="762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Trainee builds a Decoder class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dec_init in the constructor, dec_close in the destructor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dec_ctx_t held by value as a member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Not copyable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Init failure reported without exceptions: valid() flag or static create() returning std::optional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feed(ptr, len), or std::span in C++20</a:t>
            </a:r>
            <a:endParaRPr lang="en-US" sz="1300" dirty="0"/>
          </a:p>
        </p:txBody>
      </p:sp>
      <p:sp>
        <p:nvSpPr>
          <p:cNvPr id="7" name="Provided card"/>
          <p:cNvSpPr/>
          <p:nvPr/>
        </p:nvSpPr>
        <p:spPr>
          <a:xfrm>
            <a:off x="4754880" y="1280160"/>
            <a:ext cx="393192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rovided accent"/>
          <p:cNvSpPr/>
          <p:nvPr/>
        </p:nvSpPr>
        <p:spPr>
          <a:xfrm>
            <a:off x="4754880" y="1280160"/>
            <a:ext cx="54864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rovided"/>
          <p:cNvSpPr txBox="1"/>
          <p:nvPr/>
        </p:nvSpPr>
        <p:spPr>
          <a:xfrm>
            <a:off x="4846320" y="1280160"/>
            <a:ext cx="3794760" cy="1600200"/>
          </a:xfrm>
          <a:prstGeom prst="rect">
            <a:avLst/>
          </a:prstGeom>
          <a:noFill/>
          <a:ln/>
        </p:spPr>
        <p:txBody>
          <a:bodyPr wrap="square" lIns="101600" tIns="101600" rIns="101600" bIns="762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You provide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mock_dec.h/.c with dec_init, dec_feed, dec_close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Global counters for init and close calls</a:t>
            </a:r>
            <a:endParaRPr lang="en-US" sz="1300" dirty="0"/>
          </a:p>
        </p:txBody>
      </p:sp>
      <p:sp>
        <p:nvSpPr>
          <p:cNvPr id="10" name="Constraints card"/>
          <p:cNvSpPr/>
          <p:nvPr/>
        </p:nvSpPr>
        <p:spPr>
          <a:xfrm>
            <a:off x="4754880" y="3063240"/>
            <a:ext cx="393192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onstraints accent"/>
          <p:cNvSpPr/>
          <p:nvPr/>
        </p:nvSpPr>
        <p:spPr>
          <a:xfrm>
            <a:off x="4754880" y="3063240"/>
            <a:ext cx="54864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onstraints"/>
          <p:cNvSpPr txBox="1"/>
          <p:nvPr/>
        </p:nvSpPr>
        <p:spPr>
          <a:xfrm>
            <a:off x="4846320" y="3063240"/>
            <a:ext cx="3794760" cy="1600200"/>
          </a:xfrm>
          <a:prstGeom prst="rect">
            <a:avLst/>
          </a:prstGeom>
          <a:noFill/>
          <a:ln/>
        </p:spPr>
        <p:txBody>
          <a:bodyPr wrap="square" lIns="101600" tIns="101600" rIns="101600" bIns="762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Constraints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No new, malloc, unique_ptr, std::vector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No exceptions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Ex 1 · Done when, and discuss</a:t>
            </a:r>
            <a:endParaRPr lang="en-US" sz="2400" dirty="0"/>
          </a:p>
        </p:txBody>
      </p:sp>
      <p:sp>
        <p:nvSpPr>
          <p:cNvPr id="3" name="Goal line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chemeClr val="tx1"/>
                </a:solidFill>
              </a:rPr>
              <a:t>Every check should be demonstrated by a test, not just claimed.</a:t>
            </a:r>
            <a:endParaRPr lang="en-US" sz="1250" dirty="0"/>
          </a:p>
        </p:txBody>
      </p:sp>
      <p:sp>
        <p:nvSpPr>
          <p:cNvPr id="4" name="Done card"/>
          <p:cNvSpPr/>
          <p:nvPr/>
        </p:nvSpPr>
        <p:spPr>
          <a:xfrm>
            <a:off x="457200" y="1280160"/>
            <a:ext cx="475488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one accent"/>
          <p:cNvSpPr/>
          <p:nvPr/>
        </p:nvSpPr>
        <p:spPr>
          <a:xfrm>
            <a:off x="457200" y="1280160"/>
            <a:ext cx="54864" cy="3200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one"/>
          <p:cNvSpPr txBox="1"/>
          <p:nvPr/>
        </p:nvSpPr>
        <p:spPr>
          <a:xfrm>
            <a:off x="548640" y="1280160"/>
            <a:ext cx="4617720" cy="3200400"/>
          </a:xfrm>
          <a:prstGeom prst="rect">
            <a:avLst/>
          </a:prstGeom>
          <a:noFill/>
          <a:ln/>
        </p:spPr>
        <p:txBody>
          <a:bodyPr wrap="square" lIns="101600" tIns="101600" rIns="101600" bIns="762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Done when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init_count == close_count after scope exit, including an early return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Global operator new counter stays at 0 across construct, feed, destroy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static_assert(!std::is_copy_constructible_v&lt;Decoder&gt;) passes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Works as a local variable and as a static global</a:t>
            </a:r>
            <a:endParaRPr lang="en-US" sz="1300" dirty="0"/>
          </a:p>
        </p:txBody>
      </p:sp>
      <p:sp>
        <p:nvSpPr>
          <p:cNvPr id="7" name="Discuss card"/>
          <p:cNvSpPr/>
          <p:nvPr/>
        </p:nvSpPr>
        <p:spPr>
          <a:xfrm>
            <a:off x="5394960" y="1280160"/>
            <a:ext cx="329184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Discuss accent"/>
          <p:cNvSpPr/>
          <p:nvPr/>
        </p:nvSpPr>
        <p:spPr>
          <a:xfrm>
            <a:off x="5394960" y="1280160"/>
            <a:ext cx="54864" cy="3200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Discuss"/>
          <p:cNvSpPr txBox="1"/>
          <p:nvPr/>
        </p:nvSpPr>
        <p:spPr>
          <a:xfrm>
            <a:off x="5486400" y="1280160"/>
            <a:ext cx="3154680" cy="3200400"/>
          </a:xfrm>
          <a:prstGeom prst="rect">
            <a:avLst/>
          </a:prstGeom>
          <a:noFill/>
          <a:ln/>
        </p:spPr>
        <p:txBody>
          <a:bodyPr wrap="square" lIns="101600" tIns="101600" rIns="101600" bIns="762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Discuss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Why is copying dangerous here?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Why would pimpl or unique_ptr break the no-heap rule?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What does -fno-exceptions change in the constructor design?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Ex 2 · RAII wrapper + fixed buffer</a:t>
            </a:r>
            <a:endParaRPr lang="en-US" sz="2400" dirty="0"/>
          </a:p>
        </p:txBody>
      </p:sp>
      <p:sp>
        <p:nvSpPr>
          <p:cNvPr id="3" name="Goal line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chemeClr val="tx1"/>
                </a:solidFill>
              </a:rPr>
              <a:t>Goal: understand resource ownership and the trade-off between predictable memory and flexibility.</a:t>
            </a:r>
            <a:endParaRPr lang="en-US" sz="1250" dirty="0"/>
          </a:p>
        </p:txBody>
      </p:sp>
      <p:sp>
        <p:nvSpPr>
          <p:cNvPr id="4" name="PartA card"/>
          <p:cNvSpPr/>
          <p:nvPr/>
        </p:nvSpPr>
        <p:spPr>
          <a:xfrm>
            <a:off x="457200" y="1280160"/>
            <a:ext cx="26517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rtA accent"/>
          <p:cNvSpPr/>
          <p:nvPr/>
        </p:nvSpPr>
        <p:spPr>
          <a:xfrm>
            <a:off x="457200" y="1280160"/>
            <a:ext cx="54864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rtA"/>
          <p:cNvSpPr txBox="1"/>
          <p:nvPr/>
        </p:nvSpPr>
        <p:spPr>
          <a:xfrm>
            <a:off x="548640" y="1280160"/>
            <a:ext cx="2514600" cy="3383280"/>
          </a:xfrm>
          <a:prstGeom prst="rect">
            <a:avLst/>
          </a:prstGeom>
          <a:noFill/>
          <a:ln/>
        </p:spPr>
        <p:txBody>
          <a:bodyPr wrap="square" lIns="101600" tIns="101600" rIns="101600" bIns="762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A · RAII wrapper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Wrap a file descriptor or a mock handle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Acquire in ctor, release in dtor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Move-only; a moved-from object closes nothing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Provide get() and release()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Test: 1000 open/close with moves, open count returns to 0</a:t>
            </a:r>
            <a:endParaRPr lang="en-US" sz="1300" dirty="0"/>
          </a:p>
        </p:txBody>
      </p:sp>
      <p:sp>
        <p:nvSpPr>
          <p:cNvPr id="7" name="PartB card"/>
          <p:cNvSpPr/>
          <p:nvPr/>
        </p:nvSpPr>
        <p:spPr>
          <a:xfrm>
            <a:off x="3246120" y="1280160"/>
            <a:ext cx="26517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artB accent"/>
          <p:cNvSpPr/>
          <p:nvPr/>
        </p:nvSpPr>
        <p:spPr>
          <a:xfrm>
            <a:off x="3246120" y="1280160"/>
            <a:ext cx="54864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artB"/>
          <p:cNvSpPr txBox="1"/>
          <p:nvPr/>
        </p:nvSpPr>
        <p:spPr>
          <a:xfrm>
            <a:off x="3337560" y="1280160"/>
            <a:ext cx="2514600" cy="3383280"/>
          </a:xfrm>
          <a:prstGeom prst="rect">
            <a:avLst/>
          </a:prstGeom>
          <a:noFill/>
          <a:ln/>
        </p:spPr>
        <p:txBody>
          <a:bodyPr wrap="square" lIns="101600" tIns="101600" rIns="101600" bIns="762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B · FixedBuffer&lt;T, N&gt;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Inline std::array storage, no heap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push_back returns false when full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operator[], size, capacity, full, clear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Start with trivially copyable T</a:t>
            </a:r>
            <a:endParaRPr lang="en-US" sz="1300" dirty="0"/>
          </a:p>
        </p:txBody>
      </p:sp>
      <p:sp>
        <p:nvSpPr>
          <p:cNvPr id="10" name="PartC card"/>
          <p:cNvSpPr/>
          <p:nvPr/>
        </p:nvSpPr>
        <p:spPr>
          <a:xfrm>
            <a:off x="6035040" y="1280160"/>
            <a:ext cx="26517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rtC accent"/>
          <p:cNvSpPr/>
          <p:nvPr/>
        </p:nvSpPr>
        <p:spPr>
          <a:xfrm>
            <a:off x="6035040" y="1280160"/>
            <a:ext cx="54864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artC"/>
          <p:cNvSpPr txBox="1"/>
          <p:nvPr/>
        </p:nvSpPr>
        <p:spPr>
          <a:xfrm>
            <a:off x="6126480" y="1280160"/>
            <a:ext cx="2514600" cy="3383280"/>
          </a:xfrm>
          <a:prstGeom prst="rect">
            <a:avLst/>
          </a:prstGeom>
          <a:noFill/>
          <a:ln/>
        </p:spPr>
        <p:txBody>
          <a:bodyPr wrap="square" lIns="101600" tIns="101600" rIns="101600" bIns="762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C · Experiment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Push N+1 items into FixedBuffer&lt;int, N&gt; and std::vector&lt;int&gt;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Count heap allocations with a global operator new hook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Fill the table on the next slide with measured numbers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Ex 2 · Comparison, done when, stretch</a:t>
            </a:r>
            <a:endParaRPr lang="en-US" sz="2400" dirty="0"/>
          </a:p>
        </p:txBody>
      </p:sp>
      <p:sp>
        <p:nvSpPr>
          <p:cNvPr id="3" name="Goal line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chemeClr val="tx1"/>
                </a:solidFill>
              </a:rPr>
              <a:t>Trainee fills the table from their own measurements.</a:t>
            </a:r>
            <a:endParaRPr lang="en-US" sz="1250" dirty="0"/>
          </a:p>
        </p:txBody>
      </p:sp>
      <p:graphicFrame>
        <p:nvGraphicFramePr>
          <p:cNvPr id="6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120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FixedBuffer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vector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Heap allocations (operator new counter)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What happens on element N+1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Pointer to element 0 still valid after N+1 pushes?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Worst-case time of a single push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Done card"/>
          <p:cNvSpPr/>
          <p:nvPr/>
        </p:nvSpPr>
        <p:spPr>
          <a:xfrm>
            <a:off x="5760720" y="1325880"/>
            <a:ext cx="292608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one accent"/>
          <p:cNvSpPr/>
          <p:nvPr/>
        </p:nvSpPr>
        <p:spPr>
          <a:xfrm>
            <a:off x="5760720" y="1325880"/>
            <a:ext cx="54864" cy="17373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Done"/>
          <p:cNvSpPr txBox="1"/>
          <p:nvPr/>
        </p:nvSpPr>
        <p:spPr>
          <a:xfrm>
            <a:off x="5852160" y="1325880"/>
            <a:ext cx="2788920" cy="1737360"/>
          </a:xfrm>
          <a:prstGeom prst="rect">
            <a:avLst/>
          </a:prstGeom>
          <a:noFill/>
          <a:ln/>
        </p:spPr>
        <p:txBody>
          <a:bodyPr wrap="square" lIns="101600" tIns="101600" rIns="101600" bIns="762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Done when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Part A tests pass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Part B correct at the full boundary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Table holds measured numbers, not guesses</a:t>
            </a:r>
            <a:endParaRPr lang="en-US" sz="1300" dirty="0"/>
          </a:p>
        </p:txBody>
      </p:sp>
      <p:sp>
        <p:nvSpPr>
          <p:cNvPr id="8" name="Stretch card"/>
          <p:cNvSpPr/>
          <p:nvPr/>
        </p:nvSpPr>
        <p:spPr>
          <a:xfrm>
            <a:off x="5760720" y="3200400"/>
            <a:ext cx="292608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retch accent"/>
          <p:cNvSpPr/>
          <p:nvPr/>
        </p:nvSpPr>
        <p:spPr>
          <a:xfrm>
            <a:off x="5760720" y="3200400"/>
            <a:ext cx="54864" cy="1463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retch"/>
          <p:cNvSpPr txBox="1"/>
          <p:nvPr/>
        </p:nvSpPr>
        <p:spPr>
          <a:xfrm>
            <a:off x="5852160" y="3200400"/>
            <a:ext cx="2788920" cy="1463040"/>
          </a:xfrm>
          <a:prstGeom prst="rect">
            <a:avLst/>
          </a:prstGeom>
          <a:noFill/>
          <a:ln/>
        </p:spPr>
        <p:txBody>
          <a:bodyPr wrap="square" lIns="101600" tIns="101600" rIns="101600" bIns="762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Stretch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Support non-trivial T with aligned raw storage + placement new; verify with a type that counts ctor/dtor calls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Ex 3 · Producer/consumer: reproduce, then fix</a:t>
            </a:r>
            <a:endParaRPr lang="en-US" sz="2400" dirty="0"/>
          </a:p>
        </p:txBody>
      </p:sp>
      <p:sp>
        <p:nvSpPr>
          <p:cNvPr id="3" name="Goal line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chemeClr val="tx1"/>
                </a:solidFill>
              </a:rPr>
              <a:t>Goal: prove a concurrency bug exists before fixing it.</a:t>
            </a:r>
            <a:endParaRPr lang="en-US" sz="1250" dirty="0"/>
          </a:p>
        </p:txBody>
      </p:sp>
      <p:sp>
        <p:nvSpPr>
          <p:cNvPr id="4" name="PartA card"/>
          <p:cNvSpPr/>
          <p:nvPr/>
        </p:nvSpPr>
        <p:spPr>
          <a:xfrm>
            <a:off x="457200" y="1280160"/>
            <a:ext cx="40233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rtA accent"/>
          <p:cNvSpPr/>
          <p:nvPr/>
        </p:nvSpPr>
        <p:spPr>
          <a:xfrm>
            <a:off x="457200" y="1280160"/>
            <a:ext cx="54864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rtA"/>
          <p:cNvSpPr txBox="1"/>
          <p:nvPr/>
        </p:nvSpPr>
        <p:spPr>
          <a:xfrm>
            <a:off x="548640" y="1280160"/>
            <a:ext cx="3886200" cy="1600200"/>
          </a:xfrm>
          <a:prstGeom prst="rect">
            <a:avLst/>
          </a:prstGeom>
          <a:noFill/>
          <a:ln/>
        </p:spPr>
        <p:txBody>
          <a:bodyPr wrap="square" lIns="101600" tIns="101600" rIns="101600" bIns="762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A · Buggy version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Producer pushes 1..100000 into a shared std::queue, no mutex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Consumer pops and sums; the expected sum is known</a:t>
            </a:r>
            <a:endParaRPr lang="en-US" sz="1300" dirty="0"/>
          </a:p>
        </p:txBody>
      </p:sp>
      <p:sp>
        <p:nvSpPr>
          <p:cNvPr id="7" name="PartB card"/>
          <p:cNvSpPr/>
          <p:nvPr/>
        </p:nvSpPr>
        <p:spPr>
          <a:xfrm>
            <a:off x="4663440" y="1280160"/>
            <a:ext cx="40233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artB accent"/>
          <p:cNvSpPr/>
          <p:nvPr/>
        </p:nvSpPr>
        <p:spPr>
          <a:xfrm>
            <a:off x="4663440" y="1280160"/>
            <a:ext cx="54864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artB"/>
          <p:cNvSpPr txBox="1"/>
          <p:nvPr/>
        </p:nvSpPr>
        <p:spPr>
          <a:xfrm>
            <a:off x="4754880" y="1280160"/>
            <a:ext cx="3886200" cy="1600200"/>
          </a:xfrm>
          <a:prstGeom prst="rect">
            <a:avLst/>
          </a:prstGeom>
          <a:noFill/>
          <a:ln/>
        </p:spPr>
        <p:txBody>
          <a:bodyPr wrap="square" lIns="101600" tIns="101600" rIns="101600" bIns="762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B · Reproduce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Build with g++ -g -O1 -fsanitize=thread and run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Save the TSan report; note a wrong sum or crash</a:t>
            </a:r>
            <a:endParaRPr lang="en-US" sz="1300" dirty="0"/>
          </a:p>
        </p:txBody>
      </p:sp>
      <p:sp>
        <p:nvSpPr>
          <p:cNvPr id="10" name="PartC card"/>
          <p:cNvSpPr/>
          <p:nvPr/>
        </p:nvSpPr>
        <p:spPr>
          <a:xfrm>
            <a:off x="457200" y="3017520"/>
            <a:ext cx="40233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rtC accent"/>
          <p:cNvSpPr/>
          <p:nvPr/>
        </p:nvSpPr>
        <p:spPr>
          <a:xfrm>
            <a:off x="457200" y="3017520"/>
            <a:ext cx="54864" cy="1645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artC"/>
          <p:cNvSpPr txBox="1"/>
          <p:nvPr/>
        </p:nvSpPr>
        <p:spPr>
          <a:xfrm>
            <a:off x="548640" y="3017520"/>
            <a:ext cx="3886200" cy="1645920"/>
          </a:xfrm>
          <a:prstGeom prst="rect">
            <a:avLst/>
          </a:prstGeom>
          <a:noFill/>
          <a:ln/>
        </p:spPr>
        <p:txBody>
          <a:bodyPr wrap="square" lIns="101600" tIns="101600" rIns="101600" bIns="762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C · Fix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std::mutex + condition_variable + done flag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wait uses a predicate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Consumer exits cleanly when empty and done</a:t>
            </a:r>
            <a:endParaRPr lang="en-US" sz="1300" dirty="0"/>
          </a:p>
        </p:txBody>
      </p:sp>
      <p:sp>
        <p:nvSpPr>
          <p:cNvPr id="13" name="PartD card"/>
          <p:cNvSpPr/>
          <p:nvPr/>
        </p:nvSpPr>
        <p:spPr>
          <a:xfrm>
            <a:off x="4663440" y="3017520"/>
            <a:ext cx="40233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rtD accent"/>
          <p:cNvSpPr/>
          <p:nvPr/>
        </p:nvSpPr>
        <p:spPr>
          <a:xfrm>
            <a:off x="4663440" y="3017520"/>
            <a:ext cx="54864" cy="1645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artD"/>
          <p:cNvSpPr txBox="1"/>
          <p:nvPr/>
        </p:nvSpPr>
        <p:spPr>
          <a:xfrm>
            <a:off x="4754880" y="3017520"/>
            <a:ext cx="3886200" cy="1645920"/>
          </a:xfrm>
          <a:prstGeom prst="rect">
            <a:avLst/>
          </a:prstGeom>
          <a:noFill/>
          <a:ln/>
        </p:spPr>
        <p:txBody>
          <a:bodyPr wrap="square" lIns="101600" tIns="101600" rIns="101600" bIns="762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 · Deadlock variant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Two threads lock A and B in opposite order; short sleep between locks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Diagnose with gdb (thread apply all bt) or TSan; fix with std::scoped_lock(a, b)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Ex 3 · Done when, and discuss</a:t>
            </a:r>
            <a:endParaRPr lang="en-US" sz="2400" dirty="0"/>
          </a:p>
        </p:txBody>
      </p:sp>
      <p:sp>
        <p:nvSpPr>
          <p:cNvPr id="3" name="Goal line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chemeClr val="tx1"/>
                </a:solidFill>
              </a:rPr>
              <a:t>Run each check repeatedly: concurrency bugs hide.</a:t>
            </a:r>
            <a:endParaRPr lang="en-US" sz="1250" dirty="0"/>
          </a:p>
        </p:txBody>
      </p:sp>
      <p:sp>
        <p:nvSpPr>
          <p:cNvPr id="4" name="Done card"/>
          <p:cNvSpPr/>
          <p:nvPr/>
        </p:nvSpPr>
        <p:spPr>
          <a:xfrm>
            <a:off x="457200" y="1280160"/>
            <a:ext cx="475488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one accent"/>
          <p:cNvSpPr/>
          <p:nvPr/>
        </p:nvSpPr>
        <p:spPr>
          <a:xfrm>
            <a:off x="457200" y="1280160"/>
            <a:ext cx="54864" cy="3200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one"/>
          <p:cNvSpPr txBox="1"/>
          <p:nvPr/>
        </p:nvSpPr>
        <p:spPr>
          <a:xfrm>
            <a:off x="548640" y="1280160"/>
            <a:ext cx="4617720" cy="3200400"/>
          </a:xfrm>
          <a:prstGeom prst="rect">
            <a:avLst/>
          </a:prstGeom>
          <a:noFill/>
          <a:ln/>
        </p:spPr>
        <p:txBody>
          <a:bodyPr wrap="square" lIns="101600" tIns="101600" rIns="101600" bIns="762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Done when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TSan report saved; trainee explains which two accesses race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Fixed version: correct sum and clean TSan run, repeated 100 times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Clean shutdown with zero items, and with consumer started before producer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Deadlock version hangs every time before the fix, never after</a:t>
            </a:r>
            <a:endParaRPr lang="en-US" sz="1300" dirty="0"/>
          </a:p>
        </p:txBody>
      </p:sp>
      <p:sp>
        <p:nvSpPr>
          <p:cNvPr id="7" name="Discuss card"/>
          <p:cNvSpPr/>
          <p:nvPr/>
        </p:nvSpPr>
        <p:spPr>
          <a:xfrm>
            <a:off x="5394960" y="1280160"/>
            <a:ext cx="329184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Discuss accent"/>
          <p:cNvSpPr/>
          <p:nvPr/>
        </p:nvSpPr>
        <p:spPr>
          <a:xfrm>
            <a:off x="5394960" y="1280160"/>
            <a:ext cx="54864" cy="3200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Discuss"/>
          <p:cNvSpPr txBox="1"/>
          <p:nvPr/>
        </p:nvSpPr>
        <p:spPr>
          <a:xfrm>
            <a:off x="5486400" y="1280160"/>
            <a:ext cx="3154680" cy="3200400"/>
          </a:xfrm>
          <a:prstGeom prst="rect">
            <a:avLst/>
          </a:prstGeom>
          <a:noFill/>
          <a:ln/>
        </p:spPr>
        <p:txBody>
          <a:bodyPr wrap="square" lIns="101600" tIns="101600" rIns="101600" bIns="762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Discuss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Why does wait need a predicate?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What happens at shutdown without a done flag?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Why call notify_one after releasing the lock?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ercises">
  <a:themeElements>
    <a:clrScheme name="Exercises">
      <a:dk1>
        <a:srgbClr val="1F2937"/>
      </a:dk1>
      <a:lt1>
        <a:srgbClr val="FFFFFF"/>
      </a:lt1>
      <a:dk2>
        <a:srgbClr val="0F2A43"/>
      </a:dk2>
      <a:lt2>
        <a:srgbClr val="EEF3F7"/>
      </a:lt2>
      <a:accent1>
        <a:srgbClr val="0E7C86"/>
      </a:accent1>
      <a:accent2>
        <a:srgbClr val="F59E0B"/>
      </a:accent2>
      <a:accent3>
        <a:srgbClr val="DC2626"/>
      </a:accent3>
      <a:accent4>
        <a:srgbClr val="2563EB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Exercise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Hands-on Exercises</dc:title>
  <dc:subject>PptxGenJS Presentation</dc:subject>
  <dc:creator>PptxGenJS</dc:creator>
  <cp:lastModifiedBy>PptxGenJS</cp:lastModifiedBy>
  <cp:revision>1</cp:revision>
  <dcterms:created xsi:type="dcterms:W3CDTF">2026-10-12T10:46:27Z</dcterms:created>
  <dcterms:modified xsi:type="dcterms:W3CDTF">2026-10-12T10:46:27Z</dcterms:modified>
</cp:coreProperties>
</file>